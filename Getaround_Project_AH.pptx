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66" r:id="rId5"/>
    <p:sldId id="259" r:id="rId6"/>
    <p:sldId id="267" r:id="rId7"/>
    <p:sldId id="263" r:id="rId8"/>
    <p:sldId id="269" r:id="rId9"/>
    <p:sldId id="268" r:id="rId10"/>
    <p:sldId id="270" r:id="rId11"/>
    <p:sldId id="265" r:id="rId12"/>
    <p:sldId id="261" r:id="rId13"/>
    <p:sldId id="262" r:id="rId14"/>
  </p:sldIdLst>
  <p:sldSz cx="9144000" cy="5143500" type="screen16x9"/>
  <p:notesSz cx="6858000" cy="9144000"/>
  <p:embeddedFontLst>
    <p:embeddedFont>
      <p:font typeface="Inter" panose="020B0604020202020204" charset="0"/>
      <p:regular r:id="rId16"/>
      <p:bold r:id="rId17"/>
      <p:italic r:id="rId18"/>
      <p:boldItalic r:id="rId19"/>
    </p:embeddedFont>
    <p:embeddedFont>
      <p:font typeface="Inter Medium" panose="020B0604020202020204" charset="0"/>
      <p:regular r:id="rId20"/>
      <p:bold r:id="rId21"/>
      <p:italic r:id="rId22"/>
      <p:boldItalic r:id="rId23"/>
    </p:embeddedFont>
    <p:embeddedFont>
      <p:font typeface="Inter SemiBold" panose="020B0604020202020204" charset="0"/>
      <p:regular r:id="rId24"/>
      <p:bold r:id="rId25"/>
      <p:italic r:id="rId26"/>
      <p:boldItalic r:id="rId27"/>
    </p:embeddedFont>
    <p:embeddedFont>
      <p:font typeface="Libre Baskerville" panose="020000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82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509ED30F-D5C5-F2E5-0F0D-EA2B9CAA5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ED1724A9-73AA-3C99-D0E7-C053813047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46951181-0883-5CA9-169E-F580B3F5A6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19324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D844353A-E0F5-A023-B1C9-419085574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1CAB6C14-9E7B-45A3-8E0C-622F7CF7C8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67ABA0BB-9C20-21AD-8A3C-7466BB98FF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17996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288697A0-B0A7-C461-69B7-31F205B5E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F4D10084-4AE2-22D4-603B-73EC79EC93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51849818-76FE-C18D-4730-4553210D58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26915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B24EA8BE-02A1-A9CE-A3BF-C6073409B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DBDED713-6153-59D3-89FE-C258073CA8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7352152E-6EB1-832D-4E9F-914B5EBF41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52062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367549F6-1459-3946-861F-D66F97354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F2C90588-AE64-5AB1-12D5-A8061F278D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DC089E5E-AF95-CD97-3BD8-B3B0CAF625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75545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DE1F163D-9306-B63B-8A42-5A1B6E71D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A44DE11A-7589-D211-54C0-A40875A23D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D530E629-5E77-0266-BA72-704E4E7606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1946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061283EF-166A-B1E5-9609-6D2ABD40D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0FE119F4-79BB-AE53-F69D-F6E9BC6A3A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0267E9E8-0F25-3050-98C6-C79DDDFD05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10990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f4f11f959e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f4f11f959e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77ed9f117a_2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77ed9f117a_2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2062" y="2262900"/>
            <a:ext cx="6866444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/>
            <a:br>
              <a:rPr lang="fr-FR" sz="2800" dirty="0"/>
            </a:br>
            <a:br>
              <a:rPr lang="fr-FR" sz="2800" dirty="0"/>
            </a:br>
            <a:r>
              <a:rPr lang="fr-FR" sz="2800" b="1" dirty="0"/>
              <a:t>Machine Learning </a:t>
            </a:r>
            <a:r>
              <a:rPr lang="fr-FR" sz="2800" b="1" dirty="0" err="1"/>
              <a:t>Engineer</a:t>
            </a:r>
            <a:r>
              <a:rPr lang="fr-FR" sz="2800" b="1" dirty="0"/>
              <a:t> </a:t>
            </a:r>
            <a:br>
              <a:rPr lang="fr-FR" sz="2800" dirty="0"/>
            </a:br>
            <a:br>
              <a:rPr lang="fr-FR" sz="2800" dirty="0"/>
            </a:br>
            <a:r>
              <a:rPr lang="fr-FR" sz="2800" dirty="0"/>
              <a:t>Certification at JEDHA</a:t>
            </a:r>
            <a:endParaRPr sz="28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840549" y="3087788"/>
            <a:ext cx="4882075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l"/>
            <a:r>
              <a:rPr lang="fr-FR" sz="2400" dirty="0"/>
              <a:t>Bloc 5</a:t>
            </a: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E566AFD2-6FFA-E7E1-09F0-4B4FEF7327BA}"/>
              </a:ext>
            </a:extLst>
          </p:cNvPr>
          <p:cNvSpPr txBox="1">
            <a:spLocks/>
          </p:cNvSpPr>
          <p:nvPr/>
        </p:nvSpPr>
        <p:spPr>
          <a:xfrm>
            <a:off x="840550" y="3828077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sz="1600" dirty="0"/>
              <a:t>Prepared by Agnès HEIJLIGERS</a:t>
            </a:r>
            <a:endParaRPr lang="en-US" sz="16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F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ctrTitle" idx="4294967295"/>
          </p:nvPr>
        </p:nvSpPr>
        <p:spPr>
          <a:xfrm>
            <a:off x="1040272" y="1702749"/>
            <a:ext cx="7189328" cy="22415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GETAROUND Project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br>
              <a:rPr lang="fr" sz="48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en-US" sz="3200" dirty="0"/>
              <a:t>Deployment</a:t>
            </a:r>
            <a:br>
              <a:rPr lang="en-US" sz="48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1040275" y="389454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400" dirty="0"/>
              <a:t>Project Overview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8017FA96-217C-8435-60E3-8BA248D4E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55551"/>
            <a:ext cx="8520600" cy="3836473"/>
          </a:xfrm>
        </p:spPr>
        <p:txBody>
          <a:bodyPr/>
          <a:lstStyle/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</a:rPr>
              <a:t>This project addresses three key challenges in </a:t>
            </a:r>
            <a:r>
              <a:rPr lang="en-US" dirty="0" err="1">
                <a:solidFill>
                  <a:schemeClr val="tx1"/>
                </a:solidFill>
              </a:rPr>
              <a:t>Getaround</a:t>
            </a:r>
            <a:r>
              <a:rPr lang="en-US" dirty="0">
                <a:solidFill>
                  <a:schemeClr val="tx1"/>
                </a:solidFill>
              </a:rPr>
              <a:t> car rental platform:</a:t>
            </a:r>
          </a:p>
          <a:p>
            <a:pPr marL="114300" indent="0">
              <a:buNone/>
            </a:pPr>
            <a:endParaRPr lang="en-US" sz="1800" dirty="0">
              <a:solidFill>
                <a:schemeClr val="tx1"/>
              </a:solidFill>
            </a:endParaRPr>
          </a:p>
          <a:p>
            <a:pPr lvl="1"/>
            <a:r>
              <a:rPr lang="en-US" sz="1800" b="1" dirty="0">
                <a:solidFill>
                  <a:schemeClr val="tx1"/>
                </a:solidFill>
              </a:rPr>
              <a:t>Delay Analysis</a:t>
            </a:r>
            <a:r>
              <a:rPr lang="en-US" sz="1800" dirty="0">
                <a:solidFill>
                  <a:schemeClr val="tx1"/>
                </a:solidFill>
              </a:rPr>
              <a:t>: Understanding how late returns affect future rentals</a:t>
            </a:r>
          </a:p>
          <a:p>
            <a:pPr lvl="1"/>
            <a:r>
              <a:rPr lang="en-US" sz="1800" b="1" dirty="0">
                <a:solidFill>
                  <a:schemeClr val="tx1"/>
                </a:solidFill>
              </a:rPr>
              <a:t>Price Optimization</a:t>
            </a:r>
            <a:r>
              <a:rPr lang="en-US" sz="1800" dirty="0">
                <a:solidFill>
                  <a:schemeClr val="tx1"/>
                </a:solidFill>
              </a:rPr>
              <a:t>: ML-powered dynamic pricing based on car specifications</a:t>
            </a:r>
          </a:p>
          <a:p>
            <a:pPr lvl="1"/>
            <a:r>
              <a:rPr lang="en-US" sz="1800" b="1" dirty="0">
                <a:solidFill>
                  <a:schemeClr val="tx1"/>
                </a:solidFill>
              </a:rPr>
              <a:t>Experiment Tracking</a:t>
            </a:r>
            <a:r>
              <a:rPr lang="en-US" sz="1800" dirty="0">
                <a:solidFill>
                  <a:schemeClr val="tx1"/>
                </a:solidFill>
              </a:rPr>
              <a:t>: ML development with versioning and monitoring</a:t>
            </a:r>
            <a:endParaRPr lang="en-US" sz="1800" dirty="0"/>
          </a:p>
          <a:p>
            <a:endParaRPr lang="fr-FR" b="1" dirty="0"/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F1F8D49C-1EC1-1D25-AE6E-CED56B30C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954A48BC-6B15-0C09-937B-63F8812D4C74}"/>
              </a:ext>
            </a:extLst>
          </p:cNvPr>
          <p:cNvSpPr/>
          <p:nvPr/>
        </p:nvSpPr>
        <p:spPr>
          <a:xfrm>
            <a:off x="5500" y="-17775"/>
            <a:ext cx="3691106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B149ED72-B4FE-2A36-81FB-F0E547E334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0598" y="1138675"/>
            <a:ext cx="3306007" cy="3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Delay Analysis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Data analysis for Interactive simulation tool</a:t>
            </a:r>
            <a:br>
              <a:rPr lang="en-US" dirty="0"/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AD261BDA-AFBC-DD18-E736-35920AD9B2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34F93893-BC1E-A346-21ED-A882A1DDBD8F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753295" y="588485"/>
            <a:ext cx="5315100" cy="364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dirty="0"/>
              <a:t>Understanding the business context of the given data through an exploratory data analysis:</a:t>
            </a:r>
            <a:br>
              <a:rPr lang="en-US" sz="1800" dirty="0"/>
            </a:br>
            <a:br>
              <a:rPr lang="en-US" sz="1800" dirty="0"/>
            </a:br>
            <a:r>
              <a:rPr lang="en-US" sz="1600" dirty="0"/>
              <a:t>- Analysis of delays in car returns and conflicts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- Simulating minimum thresholds of delay for better decision-making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- Conclusions: implementation of a minimum delay between two rentals to mitigate conflicts is necessary, the simulation tool will help choose the optimal delay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600" dirty="0"/>
            </a:br>
            <a:br>
              <a:rPr lang="en-US" sz="1600" dirty="0"/>
            </a:br>
            <a:br>
              <a:rPr lang="en-US" dirty="0"/>
            </a:br>
            <a:br>
              <a:rPr lang="fr-FR" dirty="0"/>
            </a:br>
            <a:endParaRPr lang="en-US" sz="16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11648CB-25FA-B187-E8AA-74D2665138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2353" y="3442359"/>
            <a:ext cx="2221049" cy="1414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E367E8A6-31BB-D361-3DAE-528D100B3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3294" y="3484119"/>
            <a:ext cx="2521884" cy="1372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2098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/>
          <p:nvPr/>
        </p:nvSpPr>
        <p:spPr>
          <a:xfrm>
            <a:off x="5500" y="-17775"/>
            <a:ext cx="3691106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/>
          <p:cNvSpPr txBox="1">
            <a:spLocks noGrp="1"/>
          </p:cNvSpPr>
          <p:nvPr>
            <p:ph type="title"/>
          </p:nvPr>
        </p:nvSpPr>
        <p:spPr>
          <a:xfrm>
            <a:off x="296742" y="1115427"/>
            <a:ext cx="3306007" cy="3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400" b="1" dirty="0"/>
              <a:t>Delay Threshold Optimization</a:t>
            </a:r>
            <a:r>
              <a:rPr lang="en-US" sz="2400" dirty="0"/>
              <a:t>:</a:t>
            </a:r>
            <a:br>
              <a:rPr lang="en-US" sz="2400" dirty="0"/>
            </a:br>
            <a:br>
              <a:rPr lang="en-US" sz="2400" b="1" dirty="0"/>
            </a:br>
            <a:r>
              <a:rPr lang="en-US" sz="2400" b="1" dirty="0"/>
              <a:t>Interactive</a:t>
            </a:r>
            <a:br>
              <a:rPr lang="en-US" sz="2400" b="1" dirty="0"/>
            </a:br>
            <a:r>
              <a:rPr lang="en-US" sz="2400" b="1" dirty="0" err="1"/>
              <a:t>Streamlit</a:t>
            </a:r>
            <a:r>
              <a:rPr lang="en-US" sz="2400" b="1" dirty="0"/>
              <a:t> Dashboard</a:t>
            </a:r>
            <a:br>
              <a:rPr lang="en-US" sz="2400" b="1" dirty="0"/>
            </a:br>
            <a:r>
              <a:rPr lang="en-US" sz="2400" b="1" dirty="0"/>
              <a:t>deployed on </a:t>
            </a:r>
            <a:br>
              <a:rPr lang="en-US" sz="2400" b="1" dirty="0"/>
            </a:br>
            <a:r>
              <a:rPr lang="en-US" sz="2400" b="1" dirty="0"/>
              <a:t>Hugging Face</a:t>
            </a: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/>
          <p:cNvSpPr txBox="1">
            <a:spLocks noGrp="1"/>
          </p:cNvSpPr>
          <p:nvPr>
            <p:ph type="ctrTitle" idx="4294967295"/>
          </p:nvPr>
        </p:nvSpPr>
        <p:spPr>
          <a:xfrm>
            <a:off x="3925833" y="605285"/>
            <a:ext cx="5056796" cy="3036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/>
              <a:t>Features</a:t>
            </a:r>
            <a:r>
              <a:rPr lang="en-US" sz="2000" dirty="0"/>
              <a:t>: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- Interactive threshold simulation (15-600 minutes)</a:t>
            </a:r>
            <a:br>
              <a:rPr lang="en-US" sz="2000" dirty="0"/>
            </a:br>
            <a:r>
              <a:rPr lang="en-US" sz="2000" dirty="0"/>
              <a:t>- Connect vs All Cars scope selection</a:t>
            </a:r>
            <a:br>
              <a:rPr lang="en-US" sz="2000" dirty="0"/>
            </a:br>
            <a:r>
              <a:rPr lang="en-US" sz="2000" dirty="0"/>
              <a:t>- Real-time conflict analysis</a:t>
            </a:r>
            <a:br>
              <a:rPr lang="en-US" sz="2000" dirty="0"/>
            </a:br>
            <a:r>
              <a:rPr lang="en-US" sz="2000" dirty="0"/>
              <a:t>- Visualization of the delay distribution</a:t>
            </a:r>
            <a:br>
              <a:rPr lang="en-US" sz="2000" dirty="0"/>
            </a:br>
            <a:r>
              <a:rPr lang="en-US" sz="2000" dirty="0"/>
              <a:t>- Business insights and recommendations</a:t>
            </a:r>
            <a:br>
              <a:rPr lang="en-US" dirty="0"/>
            </a:br>
            <a:br>
              <a:rPr lang="en-US" sz="1600" dirty="0"/>
            </a:br>
            <a:br>
              <a:rPr lang="en-US" sz="1600" dirty="0"/>
            </a:br>
            <a:br>
              <a:rPr lang="en-US" dirty="0"/>
            </a:br>
            <a:br>
              <a:rPr lang="fr-FR" dirty="0"/>
            </a:br>
            <a:endParaRPr lang="en-US" sz="1600" dirty="0"/>
          </a:p>
        </p:txBody>
      </p:sp>
      <p:pic>
        <p:nvPicPr>
          <p:cNvPr id="7" name="Image 6" descr="Une image contenant texte, capture d’écran, logiciel, diagramme&#10;&#10;Le contenu généré par l’IA peut être incorrect.">
            <a:extLst>
              <a:ext uri="{FF2B5EF4-FFF2-40B4-BE49-F238E27FC236}">
                <a16:creationId xmlns:a16="http://schemas.microsoft.com/office/drawing/2014/main" id="{2EBFA194-98E7-3F2B-4DB4-DC2FBB73B6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218228"/>
            <a:ext cx="3276931" cy="19251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8A5D7D1-F001-0176-41AE-652C7D7C9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7FFC7DC1-B63D-89A9-0E71-7A081E9C4BD5}"/>
              </a:ext>
            </a:extLst>
          </p:cNvPr>
          <p:cNvSpPr/>
          <p:nvPr/>
        </p:nvSpPr>
        <p:spPr>
          <a:xfrm>
            <a:off x="5500" y="-17775"/>
            <a:ext cx="3691106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AD11FFD6-8681-77E2-B818-342D4E50E4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0598" y="1138675"/>
            <a:ext cx="3306007" cy="3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400" b="1" dirty="0"/>
              <a:t>Delay Threshold Optimization</a:t>
            </a:r>
            <a:r>
              <a:rPr lang="en-US" sz="2400" dirty="0"/>
              <a:t>:</a:t>
            </a:r>
            <a:br>
              <a:rPr lang="en-US" sz="2400" dirty="0"/>
            </a:br>
            <a:br>
              <a:rPr lang="en-US" sz="2400" b="1" dirty="0"/>
            </a:br>
            <a:r>
              <a:rPr lang="en-US" sz="2400" b="1" dirty="0"/>
              <a:t>Interactive</a:t>
            </a:r>
            <a:br>
              <a:rPr lang="en-US" sz="2400" b="1" dirty="0"/>
            </a:br>
            <a:r>
              <a:rPr lang="en-US" sz="2400" b="1" dirty="0" err="1"/>
              <a:t>Streamlit</a:t>
            </a:r>
            <a:r>
              <a:rPr lang="en-US" sz="2400" b="1" dirty="0"/>
              <a:t> Dashboard – Potential business insights</a:t>
            </a: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60D7D562-0F34-DD17-FD35-4F73EEFBE3D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58063B08-1C2E-B674-6B5A-1F7A688B758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696605" y="362273"/>
            <a:ext cx="5315100" cy="364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b="1" dirty="0"/>
              <a:t>Example threshold: 60 minutes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Conflicts prevented: </a:t>
            </a:r>
            <a:r>
              <a:rPr lang="en-US" sz="1800" b="1" dirty="0"/>
              <a:t>176</a:t>
            </a:r>
            <a:r>
              <a:rPr lang="en-US" sz="1800" dirty="0"/>
              <a:t> rentals</a:t>
            </a:r>
            <a:br>
              <a:rPr lang="en-US" sz="1800" dirty="0"/>
            </a:br>
            <a:r>
              <a:rPr lang="en-US" sz="1800" dirty="0"/>
              <a:t>All cars scope: </a:t>
            </a:r>
            <a:r>
              <a:rPr lang="en-US" sz="1800" b="1" dirty="0"/>
              <a:t>176</a:t>
            </a:r>
            <a:r>
              <a:rPr lang="en-US" sz="1800" dirty="0"/>
              <a:t> conflicts</a:t>
            </a:r>
            <a:br>
              <a:rPr lang="en-US" sz="1800" dirty="0"/>
            </a:br>
            <a:r>
              <a:rPr lang="en-US" sz="1800" dirty="0"/>
              <a:t>Connect only scope: </a:t>
            </a:r>
            <a:r>
              <a:rPr lang="en-US" sz="1800" b="1" dirty="0"/>
              <a:t>63</a:t>
            </a:r>
            <a:r>
              <a:rPr lang="en-US" sz="1800" dirty="0"/>
              <a:t> conflicts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Connect cars show </a:t>
            </a:r>
            <a:r>
              <a:rPr lang="en-US" sz="1800" b="1" dirty="0"/>
              <a:t>64.2%</a:t>
            </a:r>
            <a:r>
              <a:rPr lang="en-US" sz="1800" dirty="0"/>
              <a:t> fewer conflicts</a:t>
            </a:r>
            <a:br>
              <a:rPr lang="en-US" sz="1800" dirty="0"/>
            </a:br>
            <a:br>
              <a:rPr lang="en-US" sz="1800" dirty="0"/>
            </a:br>
            <a:r>
              <a:rPr lang="en-US" sz="1800" b="1" dirty="0"/>
              <a:t>Trade-off Consideration:</a:t>
            </a:r>
            <a:r>
              <a:rPr lang="en-US" sz="1800" dirty="0"/>
              <a:t> A 60-minute buffer prevents conflicts but may reduce booking flexibility. A balance between customer satisfaction and revenue optimization must be considered.</a:t>
            </a:r>
            <a:br>
              <a:rPr lang="en-US" dirty="0"/>
            </a:br>
            <a:br>
              <a:rPr lang="en-US" sz="1600" dirty="0"/>
            </a:br>
            <a:br>
              <a:rPr lang="en-US" dirty="0"/>
            </a:br>
            <a:br>
              <a:rPr lang="fr-FR" dirty="0"/>
            </a:b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56429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CE43C3A8-E024-8607-C2FC-7A9A13A9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6D0D68DB-8C21-6287-2661-DE3682C66B04}"/>
              </a:ext>
            </a:extLst>
          </p:cNvPr>
          <p:cNvSpPr/>
          <p:nvPr/>
        </p:nvSpPr>
        <p:spPr>
          <a:xfrm>
            <a:off x="5499" y="-17775"/>
            <a:ext cx="3520625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C537C441-8431-E426-0EBD-9CD05FC9DB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8808" y="967077"/>
            <a:ext cx="2988031" cy="3774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Machine Learning pricing optimization model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- training</a:t>
            </a:r>
            <a:br>
              <a:rPr lang="fr-FR" b="1" dirty="0"/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2BC48FC5-5319-9C6D-2E6F-456B5FC827C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6EE85370-EE17-5699-C8B7-0827A399C7A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588119" y="579249"/>
            <a:ext cx="5315100" cy="342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dirty="0"/>
              <a:t>Building a ML model for pricing optimization on the basis of the given data:</a:t>
            </a:r>
            <a:br>
              <a:rPr lang="en-US" sz="1800" dirty="0"/>
            </a:br>
            <a:r>
              <a:rPr lang="en-US" sz="1800" dirty="0"/>
              <a:t>- Analysis of the pricing dataset and data pre-processing</a:t>
            </a:r>
            <a:br>
              <a:rPr lang="en-US" sz="1800" dirty="0"/>
            </a:br>
            <a:r>
              <a:rPr lang="en-US" sz="1800" dirty="0"/>
              <a:t>- Feature engineering for optimal model training</a:t>
            </a:r>
            <a:br>
              <a:rPr lang="en-US" sz="1800" dirty="0"/>
            </a:br>
            <a:br>
              <a:rPr lang="en-US" sz="1600" dirty="0"/>
            </a:br>
            <a:br>
              <a:rPr lang="en-US" dirty="0"/>
            </a:br>
            <a:br>
              <a:rPr lang="fr-FR" sz="1600" dirty="0"/>
            </a:br>
            <a:br>
              <a:rPr lang="fr-FR" dirty="0"/>
            </a:br>
            <a:endParaRPr lang="en-US" sz="16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A76A4405-C6CF-4050-DC1D-091AAC3DC0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475" y="2571750"/>
            <a:ext cx="2671865" cy="1774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8E0B4B5B-E001-F033-AF89-88AC460DC6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8573" y="2571750"/>
            <a:ext cx="2222692" cy="1927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4565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8F6F6F57-6AFE-BFED-9F01-DF1A78855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1556290D-03E2-F98D-D5BD-E242604A9292}"/>
              </a:ext>
            </a:extLst>
          </p:cNvPr>
          <p:cNvSpPr/>
          <p:nvPr/>
        </p:nvSpPr>
        <p:spPr>
          <a:xfrm>
            <a:off x="5499" y="-17775"/>
            <a:ext cx="3520625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E512E535-D198-2F88-2297-6469F66888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8808" y="967077"/>
            <a:ext cx="2988031" cy="3774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Machine Learning pricing optimization model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- training</a:t>
            </a:r>
            <a:br>
              <a:rPr lang="fr-FR" b="1" dirty="0"/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57B5629A-5A22-78B6-E492-80607E03AD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7027E4CB-6B14-257E-99F2-16C5D49C3682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526124" y="579249"/>
            <a:ext cx="5315100" cy="342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dirty="0"/>
              <a:t>- Training 4 different ML models for pricing optimization: </a:t>
            </a:r>
            <a:r>
              <a:rPr lang="fr-FR" sz="1800" dirty="0"/>
              <a:t> </a:t>
            </a:r>
            <a:r>
              <a:rPr lang="fr-FR" sz="1800" dirty="0" err="1"/>
              <a:t>Linear</a:t>
            </a:r>
            <a:r>
              <a:rPr lang="fr-FR" sz="1800" dirty="0"/>
              <a:t> </a:t>
            </a:r>
            <a:r>
              <a:rPr lang="fr-FR" sz="1800" dirty="0" err="1"/>
              <a:t>Regression</a:t>
            </a:r>
            <a:r>
              <a:rPr lang="fr-FR" sz="1800" dirty="0"/>
              <a:t>, </a:t>
            </a:r>
            <a:r>
              <a:rPr lang="fr-FR" sz="1800" dirty="0" err="1"/>
              <a:t>Random</a:t>
            </a:r>
            <a:r>
              <a:rPr lang="fr-FR" sz="1800" dirty="0"/>
              <a:t> Forest </a:t>
            </a:r>
            <a:r>
              <a:rPr lang="fr-FR" sz="1800" dirty="0" err="1"/>
              <a:t>Regressor</a:t>
            </a:r>
            <a:r>
              <a:rPr lang="fr-FR" sz="1800" dirty="0"/>
              <a:t>, </a:t>
            </a:r>
            <a:r>
              <a:rPr lang="fr-FR" sz="1800" dirty="0" err="1"/>
              <a:t>XGBoost</a:t>
            </a:r>
            <a:r>
              <a:rPr lang="fr-FR" sz="1800" dirty="0"/>
              <a:t> </a:t>
            </a:r>
            <a:r>
              <a:rPr lang="fr-FR" sz="1800" dirty="0" err="1"/>
              <a:t>Regressor</a:t>
            </a:r>
            <a:r>
              <a:rPr lang="fr-FR" sz="1800" dirty="0"/>
              <a:t> (basic and </a:t>
            </a:r>
            <a:r>
              <a:rPr lang="fr-FR" sz="1800" dirty="0" err="1"/>
              <a:t>optimized</a:t>
            </a:r>
            <a:r>
              <a:rPr lang="fr-FR" sz="1800" dirty="0"/>
              <a:t>)</a:t>
            </a:r>
            <a:br>
              <a:rPr lang="en-US" sz="1800" dirty="0"/>
            </a:br>
            <a:r>
              <a:rPr lang="en-US" sz="1800" dirty="0"/>
              <a:t>- Best model selection based on evaluation metrics: The </a:t>
            </a:r>
            <a:r>
              <a:rPr lang="en-US" sz="1800" dirty="0" err="1"/>
              <a:t>XGBoost</a:t>
            </a:r>
            <a:r>
              <a:rPr lang="en-US" sz="1800" dirty="0"/>
              <a:t> (Optimized) with the highest R² score: 0.7611</a:t>
            </a:r>
            <a:br>
              <a:rPr lang="en-US" dirty="0"/>
            </a:br>
            <a:br>
              <a:rPr lang="fr-FR" sz="1600" dirty="0"/>
            </a:br>
            <a:br>
              <a:rPr lang="fr-FR" dirty="0"/>
            </a:br>
            <a:endParaRPr lang="en-US" sz="1600" dirty="0"/>
          </a:p>
        </p:txBody>
      </p:sp>
      <p:pic>
        <p:nvPicPr>
          <p:cNvPr id="5" name="Image 4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F544956-53CF-A441-2A06-16B419CE1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5409" y="3039265"/>
            <a:ext cx="5184567" cy="1931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1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02B21633-A302-B122-070F-EE3BF7579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139D937E-D131-0341-A71C-7F7B2AEBEAF7}"/>
              </a:ext>
            </a:extLst>
          </p:cNvPr>
          <p:cNvSpPr/>
          <p:nvPr/>
        </p:nvSpPr>
        <p:spPr>
          <a:xfrm>
            <a:off x="5499" y="-17775"/>
            <a:ext cx="3520625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4746BB85-C109-9BF1-7903-520960EEB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8808" y="967077"/>
            <a:ext cx="2988031" cy="3774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Machine Learning pricing optimization model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- deployment</a:t>
            </a:r>
            <a:br>
              <a:rPr lang="fr-FR" b="1" dirty="0"/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46E5E1CD-1470-25A2-1751-D84460151E6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DA6BDDE3-2229-9F18-4C91-5D4059FDA079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588119" y="579249"/>
            <a:ext cx="5315100" cy="342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dirty="0"/>
              <a:t>- </a:t>
            </a:r>
            <a:r>
              <a:rPr lang="en-US" sz="1600" dirty="0" err="1"/>
              <a:t>Builiding</a:t>
            </a:r>
            <a:r>
              <a:rPr lang="en-US" sz="1600" dirty="0"/>
              <a:t> an API to create a /predict endpoint for pricing predictions based on the previously created ML model (</a:t>
            </a:r>
            <a:r>
              <a:rPr lang="en-US" sz="1600" dirty="0" err="1"/>
              <a:t>XGBoost</a:t>
            </a:r>
            <a:r>
              <a:rPr lang="en-US" sz="1600" dirty="0"/>
              <a:t> Optimized)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- Preparing the API Documentation to provide clear usage instructions at /docs.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- Deployment: hosting the API on HF Spaces</a:t>
            </a:r>
            <a:br>
              <a:rPr lang="en-US" dirty="0"/>
            </a:br>
            <a:br>
              <a:rPr lang="en-US" sz="1600" dirty="0"/>
            </a:br>
            <a:br>
              <a:rPr lang="en-US" dirty="0"/>
            </a:br>
            <a:br>
              <a:rPr lang="fr-FR" sz="1600" dirty="0"/>
            </a:br>
            <a:br>
              <a:rPr lang="fr-FR" dirty="0"/>
            </a:br>
            <a:endParaRPr lang="en-US" sz="1600" dirty="0"/>
          </a:p>
        </p:txBody>
      </p:sp>
      <p:pic>
        <p:nvPicPr>
          <p:cNvPr id="3" name="Image 2" descr="Une image contenant texte, capture d’écran, logiciel, Page web&#10;&#10;Le contenu généré par l’IA peut être incorrect.">
            <a:extLst>
              <a:ext uri="{FF2B5EF4-FFF2-40B4-BE49-F238E27FC236}">
                <a16:creationId xmlns:a16="http://schemas.microsoft.com/office/drawing/2014/main" id="{C15A5C48-26EF-B139-DF12-EC086F6CFA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2520" y="2781767"/>
            <a:ext cx="2464010" cy="1447606"/>
          </a:xfrm>
          <a:prstGeom prst="rect">
            <a:avLst/>
          </a:prstGeom>
        </p:spPr>
      </p:pic>
      <p:pic>
        <p:nvPicPr>
          <p:cNvPr id="5" name="Image 4" descr="Une image contenant texte, capture d’écran, logiciel, ordinateur&#10;&#10;Le contenu généré par l’IA peut être incorrect.">
            <a:extLst>
              <a:ext uri="{FF2B5EF4-FFF2-40B4-BE49-F238E27FC236}">
                <a16:creationId xmlns:a16="http://schemas.microsoft.com/office/drawing/2014/main" id="{0461EE62-B02C-C246-AA4C-5C61911DA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810" y="3354698"/>
            <a:ext cx="2595409" cy="1524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471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D9DE7D89-C1F7-A4A3-4CED-1BDCD203B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C8806206-5BF8-B5CB-7F02-C901346802F4}"/>
              </a:ext>
            </a:extLst>
          </p:cNvPr>
          <p:cNvSpPr/>
          <p:nvPr/>
        </p:nvSpPr>
        <p:spPr>
          <a:xfrm>
            <a:off x="5499" y="-17775"/>
            <a:ext cx="3520625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A76B9C11-15D3-4C6F-276A-F0FAA446B3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8808" y="967077"/>
            <a:ext cx="2988031" cy="3774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Experiment Tracking</a:t>
            </a:r>
            <a:br>
              <a:rPr lang="en-US" dirty="0"/>
            </a:br>
            <a:br>
              <a:rPr lang="en-US" dirty="0"/>
            </a:br>
            <a:r>
              <a:rPr lang="en-US" dirty="0"/>
              <a:t>- </a:t>
            </a:r>
            <a:r>
              <a:rPr lang="en-US" dirty="0" err="1"/>
              <a:t>MLFlow</a:t>
            </a:r>
            <a:r>
              <a:rPr lang="en-US" dirty="0"/>
              <a:t> Dashboard deployed on HF</a:t>
            </a:r>
            <a:br>
              <a:rPr lang="fr-FR" b="1" dirty="0"/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1672457B-229E-7F7A-C9FF-AD2C3D6ABAA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2BE524D9-0AA5-9467-7381-4ECE57E3DE0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588119" y="579249"/>
            <a:ext cx="5315100" cy="342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000" b="1" dirty="0"/>
              <a:t>Key </a:t>
            </a:r>
            <a:r>
              <a:rPr lang="fr-FR" sz="2000" b="1" dirty="0" err="1"/>
              <a:t>Features</a:t>
            </a:r>
            <a:r>
              <a:rPr lang="fr-FR" sz="2000" b="1" dirty="0"/>
              <a:t>:</a:t>
            </a:r>
            <a:br>
              <a:rPr lang="fr-FR" sz="2000" b="1" dirty="0"/>
            </a:br>
            <a:br>
              <a:rPr lang="fr-FR" sz="1800" dirty="0"/>
            </a:br>
            <a:r>
              <a:rPr lang="fr-FR" sz="1800" dirty="0"/>
              <a:t>- Complete </a:t>
            </a:r>
            <a:r>
              <a:rPr lang="fr-FR" sz="1800" dirty="0" err="1"/>
              <a:t>experiment</a:t>
            </a:r>
            <a:r>
              <a:rPr lang="fr-FR" sz="1800" dirty="0"/>
              <a:t> versioning</a:t>
            </a:r>
            <a:br>
              <a:rPr lang="fr-FR" sz="1800" dirty="0"/>
            </a:br>
            <a:r>
              <a:rPr lang="fr-FR" sz="1800" dirty="0"/>
              <a:t>- Model performance </a:t>
            </a:r>
            <a:r>
              <a:rPr lang="fr-FR" sz="1800" dirty="0" err="1"/>
              <a:t>comparison</a:t>
            </a:r>
            <a:r>
              <a:rPr lang="fr-FR" sz="1800" dirty="0"/>
              <a:t> </a:t>
            </a:r>
            <a:r>
              <a:rPr lang="fr-FR" sz="1800" dirty="0" err="1"/>
              <a:t>across</a:t>
            </a:r>
            <a:r>
              <a:rPr lang="fr-FR" sz="1800" dirty="0"/>
              <a:t> 4 </a:t>
            </a:r>
            <a:r>
              <a:rPr lang="fr-FR" sz="1800" dirty="0" err="1"/>
              <a:t>algorithms</a:t>
            </a:r>
            <a:br>
              <a:rPr lang="fr-FR" sz="1800" dirty="0"/>
            </a:br>
            <a:r>
              <a:rPr lang="fr-FR" sz="1800" dirty="0"/>
              <a:t>- </a:t>
            </a:r>
            <a:r>
              <a:rPr lang="fr-FR" sz="1800" dirty="0" err="1"/>
              <a:t>Hyperparameter</a:t>
            </a:r>
            <a:r>
              <a:rPr lang="fr-FR" sz="1800" dirty="0"/>
              <a:t> </a:t>
            </a:r>
            <a:r>
              <a:rPr lang="fr-FR" sz="1800" dirty="0" err="1"/>
              <a:t>tracking</a:t>
            </a:r>
            <a:r>
              <a:rPr lang="fr-FR" sz="1800" dirty="0"/>
              <a:t> and </a:t>
            </a:r>
            <a:r>
              <a:rPr lang="fr-FR" sz="1800" dirty="0" err="1"/>
              <a:t>optimization</a:t>
            </a:r>
            <a:r>
              <a:rPr lang="fr-FR" sz="1800" dirty="0"/>
              <a:t> </a:t>
            </a:r>
            <a:r>
              <a:rPr lang="fr-FR" sz="1800" dirty="0" err="1"/>
              <a:t>history</a:t>
            </a:r>
            <a:br>
              <a:rPr lang="fr-FR" sz="1800" dirty="0"/>
            </a:br>
            <a:r>
              <a:rPr lang="fr-FR" sz="1800" dirty="0"/>
              <a:t>- ML </a:t>
            </a:r>
            <a:r>
              <a:rPr lang="fr-FR" sz="1800" dirty="0" err="1"/>
              <a:t>development</a:t>
            </a:r>
            <a:r>
              <a:rPr lang="fr-FR" sz="1800" dirty="0"/>
              <a:t> workflow</a:t>
            </a:r>
            <a:br>
              <a:rPr lang="fr-FR" sz="1800" dirty="0"/>
            </a:br>
            <a:r>
              <a:rPr lang="fr-FR" sz="1800" dirty="0"/>
              <a:t>- Visual </a:t>
            </a:r>
            <a:r>
              <a:rPr lang="fr-FR" sz="1800" dirty="0" err="1"/>
              <a:t>experiment</a:t>
            </a:r>
            <a:r>
              <a:rPr lang="fr-FR" sz="1800" dirty="0"/>
              <a:t> </a:t>
            </a:r>
            <a:r>
              <a:rPr lang="fr-FR" sz="1800" dirty="0" err="1"/>
              <a:t>analysis</a:t>
            </a:r>
            <a:r>
              <a:rPr lang="fr-FR" sz="1800" dirty="0"/>
              <a:t> </a:t>
            </a:r>
            <a:r>
              <a:rPr lang="fr-FR" sz="1800" dirty="0" err="1"/>
              <a:t>dashboard</a:t>
            </a:r>
            <a:br>
              <a:rPr lang="fr-FR" dirty="0"/>
            </a:br>
            <a:br>
              <a:rPr lang="en-US" dirty="0"/>
            </a:br>
            <a:br>
              <a:rPr lang="en-US" sz="1600" dirty="0"/>
            </a:br>
            <a:br>
              <a:rPr lang="en-US" dirty="0"/>
            </a:br>
            <a:br>
              <a:rPr lang="fr-FR" sz="1600" dirty="0"/>
            </a:br>
            <a:br>
              <a:rPr lang="fr-FR" dirty="0"/>
            </a:br>
            <a:endParaRPr lang="en-US" sz="1600" dirty="0"/>
          </a:p>
        </p:txBody>
      </p:sp>
      <p:pic>
        <p:nvPicPr>
          <p:cNvPr id="4" name="Image 3" descr="Une image contenant texte, capture d’écran, logiciel, Icône d’ordinateur&#10;&#10;Le contenu généré par l’IA peut être incorrect.">
            <a:extLst>
              <a:ext uri="{FF2B5EF4-FFF2-40B4-BE49-F238E27FC236}">
                <a16:creationId xmlns:a16="http://schemas.microsoft.com/office/drawing/2014/main" id="{FD996CB8-2263-2C7B-6A15-7DF7171A8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006" y="2945066"/>
            <a:ext cx="3742016" cy="21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915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C32A60FE-CE44-2D5D-F927-68E8F986E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AEB06251-4C00-E127-1784-CB2CFBF0F74A}"/>
              </a:ext>
            </a:extLst>
          </p:cNvPr>
          <p:cNvSpPr/>
          <p:nvPr/>
        </p:nvSpPr>
        <p:spPr>
          <a:xfrm>
            <a:off x="5499" y="-17775"/>
            <a:ext cx="3590107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EDAB21DF-DBB6-1D1D-7F45-E7FB4B302E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6097" y="1030187"/>
            <a:ext cx="2988031" cy="3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400" b="1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Major technologies used for 3 Applications </a:t>
            </a:r>
            <a:br>
              <a:rPr lang="fr" sz="2400" b="1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fr" sz="2400" b="1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Deployed:</a:t>
            </a: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-FR" sz="1200" b="1" dirty="0"/>
            </a:br>
            <a:r>
              <a:rPr lang="fr-FR" sz="1600" b="1" dirty="0" err="1"/>
              <a:t>FastAPI</a:t>
            </a:r>
            <a:br>
              <a:rPr lang="fr-FR" sz="1600" dirty="0"/>
            </a:br>
            <a:r>
              <a:rPr lang="fr-FR" sz="1600" b="1" dirty="0" err="1"/>
              <a:t>Streamlit</a:t>
            </a:r>
            <a:br>
              <a:rPr lang="fr-FR" sz="1600" dirty="0"/>
            </a:br>
            <a:r>
              <a:rPr lang="fr-FR" sz="1600" b="1" dirty="0"/>
              <a:t>Docker</a:t>
            </a:r>
            <a:br>
              <a:rPr lang="fr-FR" sz="1600" b="1" dirty="0"/>
            </a:br>
            <a:r>
              <a:rPr lang="fr-FR" sz="1600" b="1" dirty="0" err="1"/>
              <a:t>MLFlow</a:t>
            </a:r>
            <a:br>
              <a:rPr lang="fr-FR" sz="1600" dirty="0"/>
            </a:br>
            <a:r>
              <a:rPr lang="fr-FR" sz="1600" b="1" dirty="0" err="1"/>
              <a:t>Hugging</a:t>
            </a:r>
            <a:r>
              <a:rPr lang="fr-FR" sz="1600" b="1" dirty="0"/>
              <a:t> Face </a:t>
            </a:r>
            <a:r>
              <a:rPr lang="fr-FR" sz="1600" b="1" dirty="0" err="1"/>
              <a:t>Spaces</a:t>
            </a:r>
            <a:br>
              <a:rPr lang="fr-FR" sz="1600" dirty="0"/>
            </a:br>
            <a:r>
              <a:rPr lang="fr-FR" sz="1600" b="1" dirty="0"/>
              <a:t>GitHub</a:t>
            </a:r>
            <a:br>
              <a:rPr lang="fr-FR" sz="1600" dirty="0"/>
            </a:br>
            <a:br>
              <a:rPr lang="fr-FR" dirty="0"/>
            </a:br>
            <a: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BCD40087-BD10-15D8-807B-1925094AEBF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1C97D40E-73C8-AA7E-992B-85A63F27D87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794726" y="1131376"/>
            <a:ext cx="5315100" cy="3944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b="1" dirty="0"/>
              <a:t>Development vs Deployment</a:t>
            </a:r>
            <a:br>
              <a:rPr lang="en-US" sz="1800" b="1" dirty="0"/>
            </a:br>
            <a:br>
              <a:rPr lang="en-US" sz="1800" b="1" dirty="0"/>
            </a:br>
            <a:r>
              <a:rPr lang="en-US" sz="1800" b="1" dirty="0"/>
              <a:t>- Separated repositories: </a:t>
            </a:r>
            <a:r>
              <a:rPr lang="en-US" sz="1800" dirty="0"/>
              <a:t>Clean ML development portfolio with notebooks, trained models, and core utilities hosted on </a:t>
            </a:r>
            <a:r>
              <a:rPr lang="en-US" sz="1800" b="1" dirty="0"/>
              <a:t>GitHub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- </a:t>
            </a:r>
            <a:r>
              <a:rPr lang="en-US" sz="1800" b="1" dirty="0"/>
              <a:t>HF Spaces </a:t>
            </a:r>
            <a:r>
              <a:rPr lang="en-US" sz="1800" dirty="0"/>
              <a:t>used for production-optimized deployments with containerized applications and live APIs</a:t>
            </a:r>
            <a:br>
              <a:rPr lang="en-US" sz="1800" dirty="0"/>
            </a:br>
            <a:br>
              <a:rPr lang="en-US" dirty="0"/>
            </a:br>
            <a:br>
              <a:rPr lang="fr-FR" dirty="0"/>
            </a:br>
            <a:br>
              <a:rPr lang="fr-FR" sz="1800" dirty="0"/>
            </a:br>
            <a:br>
              <a:rPr lang="fr-FR" sz="1600" dirty="0"/>
            </a:br>
            <a:br>
              <a:rPr lang="fr-FR" dirty="0"/>
            </a:b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46835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774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>
            <a:spLocks noGrp="1"/>
          </p:cNvSpPr>
          <p:nvPr>
            <p:ph type="ctrTitle" idx="4294967295"/>
          </p:nvPr>
        </p:nvSpPr>
        <p:spPr>
          <a:xfrm>
            <a:off x="1390625" y="1039500"/>
            <a:ext cx="6362700" cy="3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200" b="0" i="0" u="none" strike="noStrike" cap="none" dirty="0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“The greatest challenge to any thinker is stating the problem in a way that will allow a solution”</a:t>
            </a:r>
            <a:endParaRPr sz="3200" b="0" i="0" u="none" strike="noStrike" cap="none" dirty="0">
              <a:solidFill>
                <a:srgbClr val="FFFFFF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104" name="Google Shape;104;p18"/>
          <p:cNvSpPr txBox="1">
            <a:spLocks noGrp="1"/>
          </p:cNvSpPr>
          <p:nvPr>
            <p:ph type="ctrTitle" idx="4294967295"/>
          </p:nvPr>
        </p:nvSpPr>
        <p:spPr>
          <a:xfrm>
            <a:off x="463375" y="4530825"/>
            <a:ext cx="8145000" cy="3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10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Bertrand RUSSELL, British philosopher</a:t>
            </a:r>
            <a:endParaRPr sz="1000" b="0" i="0" u="none" strike="noStrike" cap="none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05" name="Google Shape;10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0"/>
            <a:ext cx="576900" cy="3927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ctrTitle" idx="4294967295"/>
          </p:nvPr>
        </p:nvSpPr>
        <p:spPr>
          <a:xfrm>
            <a:off x="1235600" y="1742168"/>
            <a:ext cx="53151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56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Thank you! </a:t>
            </a:r>
            <a:endParaRPr sz="56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9"/>
          <p:cNvSpPr txBox="1">
            <a:spLocks noGrp="1"/>
          </p:cNvSpPr>
          <p:nvPr>
            <p:ph type="ctrTitle" idx="4294967295"/>
          </p:nvPr>
        </p:nvSpPr>
        <p:spPr>
          <a:xfrm>
            <a:off x="1274764" y="2606043"/>
            <a:ext cx="53151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 dirty="0">
                <a:solidFill>
                  <a:srgbClr val="0E3449"/>
                </a:solidFill>
                <a:latin typeface="Inter Medium"/>
                <a:ea typeface="Inter Medium"/>
                <a:cs typeface="Inter Medium"/>
                <a:sym typeface="Inter Medium"/>
              </a:rPr>
              <a:t>Do you have any questions ?</a:t>
            </a:r>
            <a:endParaRPr sz="2400" dirty="0">
              <a:solidFill>
                <a:srgbClr val="0E3449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13" name="Google Shape;11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16120</TotalTime>
  <Words>635</Words>
  <Application>Microsoft Office PowerPoint</Application>
  <PresentationFormat>Affichage à l'écran (16:9)</PresentationFormat>
  <Paragraphs>30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9" baseType="lpstr">
      <vt:lpstr>Inter SemiBold</vt:lpstr>
      <vt:lpstr>Libre Baskerville</vt:lpstr>
      <vt:lpstr>Inter</vt:lpstr>
      <vt:lpstr>Arial</vt:lpstr>
      <vt:lpstr>Inter Medium</vt:lpstr>
      <vt:lpstr>Simple Light</vt:lpstr>
      <vt:lpstr>  Machine Learning Engineer   Certification at JEDHA</vt:lpstr>
      <vt:lpstr>GETAROUND Project  Deployment </vt:lpstr>
      <vt:lpstr>Project Overview</vt:lpstr>
      <vt:lpstr>Delay Analysis:  Data analysis for Interactive simulation tool   </vt:lpstr>
      <vt:lpstr>Delay Threshold Optimization:  Interactive Streamlit Dashboard deployed on  Hugging Face  </vt:lpstr>
      <vt:lpstr>Delay Threshold Optimization:  Interactive Streamlit Dashboard – Potential business insights  </vt:lpstr>
      <vt:lpstr>Machine Learning pricing optimization model   - training   </vt:lpstr>
      <vt:lpstr>Machine Learning pricing optimization model   - training   </vt:lpstr>
      <vt:lpstr>Machine Learning pricing optimization model   - deployment   </vt:lpstr>
      <vt:lpstr>Experiment Tracking  - MLFlow Dashboard deployed on HF   </vt:lpstr>
      <vt:lpstr>Major technologies used for 3 Applications  Deployed:   FastAPI Streamlit Docker MLFlow Hugging Face Spaces GitHub   </vt:lpstr>
      <vt:lpstr>“The greatest challenge to any thinker is stating the problem in a way that will allow a solution”</vt:lpstr>
      <vt:lpstr>Thank you!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Agnieszka Heijligers</dc:creator>
  <cp:lastModifiedBy>Agnieszka Heijligers</cp:lastModifiedBy>
  <cp:revision>10</cp:revision>
  <dcterms:modified xsi:type="dcterms:W3CDTF">2026-01-03T17:23:49Z</dcterms:modified>
</cp:coreProperties>
</file>