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6" r:id="rId5"/>
    <p:sldId id="259" r:id="rId6"/>
    <p:sldId id="267" r:id="rId7"/>
    <p:sldId id="263" r:id="rId8"/>
    <p:sldId id="269" r:id="rId9"/>
    <p:sldId id="268" r:id="rId10"/>
    <p:sldId id="270" r:id="rId11"/>
    <p:sldId id="265" r:id="rId12"/>
    <p:sldId id="261" r:id="rId13"/>
    <p:sldId id="262" r:id="rId14"/>
  </p:sldIdLst>
  <p:sldSz cx="9144000" cy="5143500" type="screen16x9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Inter Medium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  <p:embeddedFont>
      <p:font typeface="Libre Baskerville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84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c3b886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c3b886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09ED30F-D5C5-F2E5-0F0D-EA2B9CAA5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ED1724A9-73AA-3C99-D0E7-C053813047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46951181-0883-5CA9-169E-F580B3F5A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19324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D844353A-E0F5-A023-B1C9-41908557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1CAB6C14-9E7B-45A3-8E0C-622F7CF7C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67ABA0BB-9C20-21AD-8A3C-7466BB98FF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sz="1100" b="1" noProof="0" dirty="0"/>
              <a:t>Example de seuil: 60 minutes</a:t>
            </a:r>
            <a:br>
              <a:rPr lang="fr-FR" sz="1100" noProof="0" dirty="0"/>
            </a:br>
            <a:r>
              <a:rPr lang="fr-FR" sz="1100" noProof="0" dirty="0"/>
              <a:t>Conflits évités: </a:t>
            </a:r>
            <a:r>
              <a:rPr lang="fr-FR" sz="1100" b="1" noProof="0" dirty="0"/>
              <a:t>176</a:t>
            </a:r>
            <a:r>
              <a:rPr lang="fr-FR" sz="1100" noProof="0" dirty="0"/>
              <a:t> </a:t>
            </a:r>
            <a:r>
              <a:rPr lang="fr-FR" sz="1100" noProof="0" dirty="0" err="1"/>
              <a:t>rentals</a:t>
            </a:r>
            <a:br>
              <a:rPr lang="fr-FR" sz="1100" noProof="0" dirty="0"/>
            </a:br>
            <a:r>
              <a:rPr lang="fr-FR" sz="1100" noProof="0" dirty="0"/>
              <a:t>Etendue pour ‘All cars’: </a:t>
            </a:r>
            <a:r>
              <a:rPr lang="fr-FR" sz="1100" b="1" noProof="0" dirty="0"/>
              <a:t>176</a:t>
            </a:r>
            <a:r>
              <a:rPr lang="fr-FR" sz="1100" noProof="0" dirty="0"/>
              <a:t> conflits</a:t>
            </a:r>
            <a:br>
              <a:rPr lang="fr-FR" sz="1100" noProof="0" dirty="0"/>
            </a:br>
            <a:r>
              <a:rPr lang="fr-FR" sz="1100" noProof="0" dirty="0"/>
              <a:t>Etendue uniquement ‘</a:t>
            </a:r>
            <a:r>
              <a:rPr lang="fr-FR" sz="1100" noProof="0" dirty="0" err="1"/>
              <a:t>Connect</a:t>
            </a:r>
            <a:r>
              <a:rPr lang="fr-FR" sz="1100" noProof="0" dirty="0"/>
              <a:t>’: </a:t>
            </a:r>
            <a:r>
              <a:rPr lang="fr-FR" sz="1100" b="1" noProof="0" dirty="0"/>
              <a:t>63</a:t>
            </a:r>
            <a:r>
              <a:rPr lang="fr-FR" sz="1100" noProof="0" dirty="0"/>
              <a:t> conflits</a:t>
            </a:r>
            <a:br>
              <a:rPr lang="fr-FR" sz="1100" noProof="0" dirty="0"/>
            </a:br>
            <a:br>
              <a:rPr lang="fr-FR" sz="1100" noProof="0" dirty="0"/>
            </a:br>
            <a:r>
              <a:rPr lang="fr-FR" sz="1100" noProof="0" dirty="0"/>
              <a:t>Les voitures ‘</a:t>
            </a:r>
            <a:r>
              <a:rPr lang="fr-FR" sz="1100" noProof="0" dirty="0" err="1"/>
              <a:t>Connect</a:t>
            </a:r>
            <a:r>
              <a:rPr lang="fr-FR" sz="1100" noProof="0" dirty="0"/>
              <a:t>’ indiquent </a:t>
            </a:r>
            <a:r>
              <a:rPr lang="fr-FR" sz="1100" b="1" noProof="0" dirty="0"/>
              <a:t>64.2%</a:t>
            </a:r>
            <a:r>
              <a:rPr lang="fr-FR" sz="1100" noProof="0" dirty="0"/>
              <a:t> moins de conflits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1799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288697A0-B0A7-C461-69B7-31F205B5E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F4D10084-4AE2-22D4-603B-73EC79EC93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51849818-76FE-C18D-4730-4553210D5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691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24EA8BE-02A1-A9CE-A3BF-C6073409B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DBDED713-6153-59D3-89FE-C258073CA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7352152E-6EB1-832D-4E9F-914B5EBF41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206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367549F6-1459-3946-861F-D66F9735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F2C90588-AE64-5AB1-12D5-A8061F278D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DC089E5E-AF95-CD97-3BD8-B3B0CAF625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7554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DE1F163D-9306-B63B-8A42-5A1B6E71D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A44DE11A-7589-D211-54C0-A40875A23D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D530E629-5E77-0266-BA72-704E4E760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194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061283EF-166A-B1E5-9609-6D2ABD40D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4f11f959e_0_5:notes">
            <a:extLst>
              <a:ext uri="{FF2B5EF4-FFF2-40B4-BE49-F238E27FC236}">
                <a16:creationId xmlns:a16="http://schemas.microsoft.com/office/drawing/2014/main" id="{0FE119F4-79BB-AE53-F69D-F6E9BC6A3A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f4f11f959e_0_5:notes">
            <a:extLst>
              <a:ext uri="{FF2B5EF4-FFF2-40B4-BE49-F238E27FC236}">
                <a16:creationId xmlns:a16="http://schemas.microsoft.com/office/drawing/2014/main" id="{0267E9E8-0F25-3050-98C6-C79DDDFD05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1099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f4f11f959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f4f11f959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35892" y="2684058"/>
            <a:ext cx="6866444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br>
              <a:rPr lang="fr-FR" sz="2800" dirty="0"/>
            </a:br>
            <a:br>
              <a:rPr lang="fr-FR" sz="2800" dirty="0"/>
            </a:br>
            <a:r>
              <a:rPr lang="fr-FR" sz="2800" b="1" dirty="0"/>
              <a:t>Concepteur développeur en science des données</a:t>
            </a:r>
            <a:br>
              <a:rPr lang="fr-FR" sz="3200" b="1" dirty="0"/>
            </a:br>
            <a:br>
              <a:rPr lang="fr-FR" sz="3200" b="1" dirty="0"/>
            </a:br>
            <a:r>
              <a:rPr lang="fr-FR" sz="2400" b="1" dirty="0"/>
              <a:t>Machine Learning </a:t>
            </a:r>
            <a:r>
              <a:rPr lang="fr-FR" sz="2400" b="1" dirty="0" err="1"/>
              <a:t>Engineer</a:t>
            </a:r>
            <a:endParaRPr sz="28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08813" y="3294977"/>
            <a:ext cx="4882075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fr-FR" sz="2400" b="1" dirty="0">
                <a:solidFill>
                  <a:srgbClr val="FFFF00"/>
                </a:solidFill>
              </a:rPr>
              <a:t>Bloc 5</a:t>
            </a: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E566AFD2-6FFA-E7E1-09F0-4B4FEF7327BA}"/>
              </a:ext>
            </a:extLst>
          </p:cNvPr>
          <p:cNvSpPr txBox="1">
            <a:spLocks/>
          </p:cNvSpPr>
          <p:nvPr/>
        </p:nvSpPr>
        <p:spPr>
          <a:xfrm>
            <a:off x="796137" y="3925850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1600" dirty="0"/>
              <a:t>Prepared by Agnès HEIJLIGERS</a:t>
            </a:r>
            <a:endParaRPr lang="en-US" sz="16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4FF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ctrTitle" idx="4294967295"/>
          </p:nvPr>
        </p:nvSpPr>
        <p:spPr>
          <a:xfrm>
            <a:off x="589349" y="1377284"/>
            <a:ext cx="7996712" cy="3473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GETAROUND</a:t>
            </a:r>
            <a:b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b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-FR" sz="2400" dirty="0"/>
              <a:t>Industrialisation d'un algorithme d'apprentissage automatique et automatisation des processus de décision</a:t>
            </a:r>
            <a:br>
              <a:rPr lang="fr-FR" sz="2400" dirty="0"/>
            </a:br>
            <a:br>
              <a:rPr lang="fr" sz="48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en-US" sz="2400" dirty="0"/>
              <a:t>(</a:t>
            </a:r>
            <a:r>
              <a:rPr lang="en-US" sz="2400" dirty="0" err="1"/>
              <a:t>Déploiement</a:t>
            </a:r>
            <a:r>
              <a:rPr lang="en-US" sz="2400" dirty="0"/>
              <a:t>)</a:t>
            </a:r>
            <a:br>
              <a:rPr lang="en-US" sz="4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</a:br>
            <a:endParaRPr sz="45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snap">
            <a:extLst>
              <a:ext uri="{FF2B5EF4-FFF2-40B4-BE49-F238E27FC236}">
                <a16:creationId xmlns:a16="http://schemas.microsoft.com/office/drawing/2014/main" id="{F3A42B12-F102-71A7-D60F-629BB24A9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173" y="0"/>
            <a:ext cx="5012871" cy="184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1040275" y="389454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Aperçu du </a:t>
            </a:r>
            <a:r>
              <a:rPr lang="en-US" sz="2400" dirty="0" err="1"/>
              <a:t>projet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017FA96-217C-8435-60E3-8BA248D4E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55551"/>
            <a:ext cx="8520600" cy="3836473"/>
          </a:xfrm>
        </p:spPr>
        <p:txBody>
          <a:bodyPr/>
          <a:lstStyle/>
          <a:p>
            <a:pPr marL="114300" indent="0">
              <a:buNone/>
            </a:pPr>
            <a:r>
              <a:rPr lang="fr-FR" noProof="0" dirty="0">
                <a:solidFill>
                  <a:schemeClr val="tx1"/>
                </a:solidFill>
              </a:rPr>
              <a:t>Ce projet traite trois notions clés relatives à la plateforme de location des voitures </a:t>
            </a:r>
            <a:r>
              <a:rPr lang="fr-FR" noProof="0" dirty="0" err="1">
                <a:solidFill>
                  <a:schemeClr val="tx1"/>
                </a:solidFill>
              </a:rPr>
              <a:t>Getaround</a:t>
            </a:r>
            <a:r>
              <a:rPr lang="fr-FR" noProof="0" dirty="0">
                <a:solidFill>
                  <a:schemeClr val="tx1"/>
                </a:solidFill>
              </a:rPr>
              <a:t>:</a:t>
            </a:r>
            <a:endParaRPr lang="fr-FR" sz="1800" noProof="0" dirty="0">
              <a:solidFill>
                <a:schemeClr val="tx1"/>
              </a:solidFill>
            </a:endParaRPr>
          </a:p>
          <a:p>
            <a:pPr lvl="1"/>
            <a:r>
              <a:rPr lang="fr-FR" sz="1800" b="1" noProof="0" dirty="0">
                <a:solidFill>
                  <a:schemeClr val="tx1"/>
                </a:solidFill>
              </a:rPr>
              <a:t>Analyse des retards</a:t>
            </a:r>
            <a:r>
              <a:rPr lang="fr-FR" sz="1800" noProof="0" dirty="0">
                <a:solidFill>
                  <a:schemeClr val="tx1"/>
                </a:solidFill>
              </a:rPr>
              <a:t>: comprendre comment les retards affectent les futures locations</a:t>
            </a:r>
          </a:p>
          <a:p>
            <a:pPr lvl="1"/>
            <a:r>
              <a:rPr lang="fr-FR" sz="1800" b="1" noProof="0" dirty="0">
                <a:solidFill>
                  <a:schemeClr val="tx1"/>
                </a:solidFill>
              </a:rPr>
              <a:t>Optimisation des tarifs de location</a:t>
            </a:r>
            <a:r>
              <a:rPr lang="fr-FR" sz="1800" noProof="0" dirty="0">
                <a:solidFill>
                  <a:schemeClr val="tx1"/>
                </a:solidFill>
              </a:rPr>
              <a:t>: tarification dynamique basée sur les caractéristiques des voitures calculée avec un algorithme de l’IA</a:t>
            </a:r>
          </a:p>
          <a:p>
            <a:pPr lvl="1"/>
            <a:r>
              <a:rPr lang="fr-FR" sz="1800" b="1" noProof="0" dirty="0">
                <a:solidFill>
                  <a:schemeClr val="tx1"/>
                </a:solidFill>
              </a:rPr>
              <a:t>Suivi du modèle de l’IA</a:t>
            </a:r>
            <a:r>
              <a:rPr lang="fr-FR" sz="1800" noProof="0" dirty="0">
                <a:solidFill>
                  <a:schemeClr val="tx1"/>
                </a:solidFill>
              </a:rPr>
              <a:t>: développement de ML avec versionnage et surveillance</a:t>
            </a:r>
            <a:endParaRPr lang="fr-FR" b="1" noProof="0" dirty="0"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F1F8D49C-1EC1-1D25-AE6E-CED56B30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954A48BC-6B15-0C09-937B-63F8812D4C74}"/>
              </a:ext>
            </a:extLst>
          </p:cNvPr>
          <p:cNvSpPr/>
          <p:nvPr/>
        </p:nvSpPr>
        <p:spPr>
          <a:xfrm>
            <a:off x="5500" y="-17775"/>
            <a:ext cx="3691106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B149ED72-B4FE-2A36-81FB-F0E547E33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652" y="1642370"/>
            <a:ext cx="3306007" cy="2108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noProof="0" dirty="0"/>
              <a:t>Analyse des retards</a:t>
            </a:r>
            <a:r>
              <a:rPr lang="fr-FR" b="1" dirty="0"/>
              <a:t> </a:t>
            </a:r>
            <a:r>
              <a:rPr lang="fr-FR" b="1" noProof="0" dirty="0"/>
              <a:t>en vue d’un outil interactif</a:t>
            </a:r>
            <a:br>
              <a:rPr lang="fr-FR" noProof="0" dirty="0"/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sz="2400" noProof="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AD261BDA-AFBC-DD18-E736-35920AD9B2E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34F93893-BC1E-A346-21ED-A882A1DDBD8F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818233" y="184409"/>
            <a:ext cx="5240526" cy="364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800" noProof="0" dirty="0"/>
              <a:t>Comprendre le contexte commercial des données grâce à l’analyse exploratoire:</a:t>
            </a:r>
            <a:br>
              <a:rPr lang="fr-FR" sz="1800" noProof="0" dirty="0"/>
            </a:br>
            <a:br>
              <a:rPr lang="fr-FR" sz="1800" noProof="0" dirty="0"/>
            </a:br>
            <a:r>
              <a:rPr lang="fr-FR" sz="1600" noProof="0" dirty="0"/>
              <a:t>- Retards en restitution des voitures causent des conflits</a:t>
            </a:r>
            <a:br>
              <a:rPr lang="fr-FR" sz="1600" noProof="0" dirty="0"/>
            </a:br>
            <a:br>
              <a:rPr lang="fr-FR" sz="1600" noProof="0" dirty="0"/>
            </a:br>
            <a:r>
              <a:rPr lang="fr-FR" sz="1600" noProof="0" dirty="0"/>
              <a:t>- Simulation des seuils minimum de décalage pour améliorer le processus décisif</a:t>
            </a:r>
            <a:br>
              <a:rPr lang="fr-FR" sz="1600" noProof="0" dirty="0"/>
            </a:br>
            <a:br>
              <a:rPr lang="fr-FR" sz="1600" noProof="0" dirty="0"/>
            </a:br>
            <a:r>
              <a:rPr lang="fr-FR" sz="1600" noProof="0" dirty="0"/>
              <a:t>- Conclusions: mise </a:t>
            </a:r>
            <a:r>
              <a:rPr lang="fr-FR" sz="1600" dirty="0"/>
              <a:t>e</a:t>
            </a:r>
            <a:r>
              <a:rPr lang="fr-FR" sz="1600" noProof="0" dirty="0"/>
              <a:t>n place d’un décalage minimum entre deux locations pour réduire les conflits est nécessaire, le simulateur permettra de choisir le meilleur seuil</a:t>
            </a:r>
            <a:br>
              <a:rPr lang="fr-FR" sz="1800" noProof="0" dirty="0"/>
            </a:br>
            <a:br>
              <a:rPr lang="fr-FR" sz="1800" noProof="0" dirty="0"/>
            </a:br>
            <a:br>
              <a:rPr lang="fr-FR" sz="1800" noProof="0" dirty="0"/>
            </a:br>
            <a:br>
              <a:rPr lang="fr-FR" sz="1600" noProof="0" dirty="0"/>
            </a:br>
            <a:br>
              <a:rPr lang="fr-FR" sz="1600" noProof="0" dirty="0"/>
            </a:br>
            <a:br>
              <a:rPr lang="fr-FR" noProof="0" dirty="0"/>
            </a:br>
            <a:br>
              <a:rPr lang="fr-FR" noProof="0" dirty="0"/>
            </a:br>
            <a:endParaRPr lang="fr-FR" sz="1600" noProof="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11648CB-25FA-B187-E8AA-74D266513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637" y="3544743"/>
            <a:ext cx="2221049" cy="141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E367E8A6-31BB-D361-3DAE-528D100B3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606" y="3544743"/>
            <a:ext cx="2521884" cy="1372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2098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5500" y="-17775"/>
            <a:ext cx="3691106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248979" y="1677202"/>
            <a:ext cx="3306007" cy="223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400" b="1" noProof="0" dirty="0"/>
              <a:t>Optimisation du seuil de décalage</a:t>
            </a:r>
            <a:r>
              <a:rPr lang="fr-FR" sz="2400" noProof="0" dirty="0"/>
              <a:t>:</a:t>
            </a:r>
            <a:br>
              <a:rPr lang="fr-FR" sz="2400" noProof="0" dirty="0"/>
            </a:br>
            <a:br>
              <a:rPr lang="fr-FR" sz="2400" b="1" noProof="0" dirty="0"/>
            </a:br>
            <a:r>
              <a:rPr lang="fr-FR" sz="2400" b="1" noProof="0" dirty="0"/>
              <a:t>outil de simulation interactif</a:t>
            </a:r>
            <a:br>
              <a:rPr lang="fr-FR" sz="2400" b="1" noProof="0" dirty="0"/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sz="2400" noProof="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>
            <a:spLocks noGrp="1"/>
          </p:cNvSpPr>
          <p:nvPr>
            <p:ph type="ctrTitle" idx="4294967295"/>
          </p:nvPr>
        </p:nvSpPr>
        <p:spPr>
          <a:xfrm>
            <a:off x="3893991" y="287570"/>
            <a:ext cx="5056796" cy="256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000" b="1" noProof="0" dirty="0"/>
              <a:t>Caractéristiques</a:t>
            </a:r>
            <a:r>
              <a:rPr lang="fr-FR" sz="2000" noProof="0" dirty="0"/>
              <a:t>:</a:t>
            </a:r>
            <a:br>
              <a:rPr lang="fr-FR" sz="2000" noProof="0" dirty="0"/>
            </a:br>
            <a:br>
              <a:rPr lang="fr-FR" sz="2000" noProof="0" dirty="0"/>
            </a:br>
            <a:r>
              <a:rPr lang="fr-FR" sz="2000" noProof="0" dirty="0"/>
              <a:t>- Simulation interactive du seuil</a:t>
            </a:r>
            <a:br>
              <a:rPr lang="fr-FR" sz="2000" noProof="0" dirty="0"/>
            </a:br>
            <a:r>
              <a:rPr lang="fr-FR" sz="2000" noProof="0" dirty="0"/>
              <a:t>- Sélection des </a:t>
            </a:r>
            <a:r>
              <a:rPr lang="fr-FR" sz="2000" dirty="0"/>
              <a:t>modes de location: </a:t>
            </a:r>
            <a:r>
              <a:rPr lang="fr-FR" sz="2000" noProof="0" dirty="0" err="1"/>
              <a:t>Connect</a:t>
            </a:r>
            <a:r>
              <a:rPr lang="fr-FR" sz="2000" noProof="0" dirty="0"/>
              <a:t> vs All Cars</a:t>
            </a:r>
            <a:br>
              <a:rPr lang="fr-FR" sz="2000" noProof="0" dirty="0"/>
            </a:br>
            <a:r>
              <a:rPr lang="fr-FR" sz="2000" noProof="0" dirty="0"/>
              <a:t>- Analyse des conflits en temps réel</a:t>
            </a:r>
            <a:br>
              <a:rPr lang="fr-FR" sz="2000" noProof="0" dirty="0"/>
            </a:br>
            <a:r>
              <a:rPr lang="fr-FR" sz="2000" noProof="0" dirty="0"/>
              <a:t>- Visualisation de la distribution des retards</a:t>
            </a:r>
            <a:br>
              <a:rPr lang="fr-FR" sz="2000" noProof="0" dirty="0"/>
            </a:br>
            <a:br>
              <a:rPr lang="fr-FR" noProof="0" dirty="0"/>
            </a:br>
            <a:br>
              <a:rPr lang="fr-FR" sz="1600" noProof="0" dirty="0"/>
            </a:br>
            <a:br>
              <a:rPr lang="fr-FR" sz="1600" noProof="0" dirty="0"/>
            </a:br>
            <a:br>
              <a:rPr lang="fr-FR" noProof="0" dirty="0"/>
            </a:br>
            <a:br>
              <a:rPr lang="fr-FR" noProof="0" dirty="0"/>
            </a:br>
            <a:endParaRPr lang="fr-FR" sz="1600" noProof="0" dirty="0"/>
          </a:p>
        </p:txBody>
      </p:sp>
      <p:pic>
        <p:nvPicPr>
          <p:cNvPr id="7" name="Image 6" descr="Une image contenant texte, capture d’écran, logiciel, diagramme&#10;&#10;Le contenu généré par l’IA peut être incorrect.">
            <a:extLst>
              <a:ext uri="{FF2B5EF4-FFF2-40B4-BE49-F238E27FC236}">
                <a16:creationId xmlns:a16="http://schemas.microsoft.com/office/drawing/2014/main" id="{2EBFA194-98E7-3F2B-4DB4-DC2FBB73B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51687"/>
            <a:ext cx="3600756" cy="21154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8A5D7D1-F001-0176-41AE-652C7D7C9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7FFC7DC1-B63D-89A9-0E71-7A081E9C4BD5}"/>
              </a:ext>
            </a:extLst>
          </p:cNvPr>
          <p:cNvSpPr/>
          <p:nvPr/>
        </p:nvSpPr>
        <p:spPr>
          <a:xfrm>
            <a:off x="5500" y="-17775"/>
            <a:ext cx="3691106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AD11FFD6-8681-77E2-B818-342D4E50E4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295" y="1723621"/>
            <a:ext cx="3436304" cy="193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400" b="1" dirty="0"/>
              <a:t>Optimisation du seuil de décalage - </a:t>
            </a:r>
            <a:br>
              <a:rPr lang="en-US" sz="2400" dirty="0"/>
            </a:br>
            <a:br>
              <a:rPr lang="fr-FR" sz="2400" b="1" dirty="0"/>
            </a:br>
            <a:r>
              <a:rPr lang="fr-FR" sz="2400" b="1" dirty="0"/>
              <a:t>stratégie commerciale</a:t>
            </a: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60D7D562-0F34-DD17-FD35-4F73EEFBE3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58063B08-1C2E-B674-6B5A-1F7A688B758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696605" y="791263"/>
            <a:ext cx="5315100" cy="4020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800" noProof="0" dirty="0"/>
            </a:br>
            <a:r>
              <a:rPr lang="fr-FR" sz="2000" b="1" noProof="0" dirty="0"/>
              <a:t>Un compromis doit être considéré:</a:t>
            </a:r>
            <a:br>
              <a:rPr lang="fr-FR" sz="2000" noProof="0" dirty="0"/>
            </a:br>
            <a:br>
              <a:rPr lang="fr-FR" sz="2000" noProof="0" dirty="0"/>
            </a:br>
            <a:r>
              <a:rPr lang="fr-FR" sz="2000" noProof="0" dirty="0"/>
              <a:t>- établir un ‘décalage’ de </a:t>
            </a:r>
            <a:r>
              <a:rPr lang="fr-FR" sz="2000" b="1" noProof="0" dirty="0"/>
              <a:t>60-minutes</a:t>
            </a:r>
            <a:r>
              <a:rPr lang="fr-FR" sz="2000" noProof="0" dirty="0"/>
              <a:t> entre deux locations permet d’éviter les conflits mais réduit la souplesse des </a:t>
            </a:r>
            <a:r>
              <a:rPr lang="fr-FR" sz="2000" noProof="0" dirty="0" err="1"/>
              <a:t>bookings</a:t>
            </a:r>
            <a:r>
              <a:rPr lang="fr-FR" sz="2000" dirty="0"/>
              <a:t>;</a:t>
            </a:r>
            <a:br>
              <a:rPr lang="fr-FR" sz="2000" noProof="0" dirty="0"/>
            </a:br>
            <a:br>
              <a:rPr lang="fr-FR" sz="2000" noProof="0" dirty="0"/>
            </a:br>
            <a:r>
              <a:rPr lang="fr-FR" sz="2000" dirty="0"/>
              <a:t>- il conviendrait de trouver u</a:t>
            </a:r>
            <a:r>
              <a:rPr lang="fr-FR" sz="2000" noProof="0" dirty="0"/>
              <a:t>n équilibre entre la satisfaction du client et l’optimisation des revenus.</a:t>
            </a:r>
            <a:br>
              <a:rPr lang="fr-FR" noProof="0" dirty="0"/>
            </a:br>
            <a:br>
              <a:rPr lang="fr-FR" sz="1600" noProof="0" dirty="0"/>
            </a:br>
            <a:br>
              <a:rPr lang="fr-FR" noProof="0" dirty="0"/>
            </a:br>
            <a:br>
              <a:rPr lang="fr-FR" noProof="0" dirty="0"/>
            </a:br>
            <a:endParaRPr lang="fr-FR" sz="1600" noProof="0" dirty="0"/>
          </a:p>
        </p:txBody>
      </p:sp>
      <p:pic>
        <p:nvPicPr>
          <p:cNvPr id="3" name="Graphique 2" descr="Poignée de main avec un remplissage uni">
            <a:extLst>
              <a:ext uri="{FF2B5EF4-FFF2-40B4-BE49-F238E27FC236}">
                <a16:creationId xmlns:a16="http://schemas.microsoft.com/office/drawing/2014/main" id="{789F8029-77A5-8582-C800-A6072ACB43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2453" y="39665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29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E43C3A8-E024-8607-C2FC-7A9A13A9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6D0D68DB-8C21-6287-2661-DE3682C66B04}"/>
              </a:ext>
            </a:extLst>
          </p:cNvPr>
          <p:cNvSpPr/>
          <p:nvPr/>
        </p:nvSpPr>
        <p:spPr>
          <a:xfrm>
            <a:off x="5499" y="-17775"/>
            <a:ext cx="3520625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C537C441-8431-E426-0EBD-9CD05FC9DB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808" y="967077"/>
            <a:ext cx="2988031" cy="377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noProof="0" dirty="0"/>
              <a:t>Modèle d’optimisation des tarifs</a:t>
            </a:r>
            <a:br>
              <a:rPr lang="fr-FR" noProof="0" dirty="0"/>
            </a:br>
            <a:br>
              <a:rPr lang="fr-FR" noProof="0" dirty="0"/>
            </a:br>
            <a:r>
              <a:rPr lang="fr-FR" noProof="0" dirty="0"/>
              <a:t>- entraînement</a:t>
            </a:r>
            <a:br>
              <a:rPr lang="fr-FR" b="1" noProof="0" dirty="0"/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sz="2400" noProof="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2BC48FC5-5319-9C6D-2E6F-456B5FC827C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6EE85370-EE17-5699-C8B7-0827A399C7A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588119" y="579249"/>
            <a:ext cx="5315100" cy="342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800" noProof="0" dirty="0"/>
              <a:t>Construire un modèle ML pour l’optimisation des tarifs basé sur les données:</a:t>
            </a:r>
            <a:br>
              <a:rPr lang="fr-FR" sz="1800" noProof="0" dirty="0"/>
            </a:br>
            <a:br>
              <a:rPr lang="fr-FR" sz="1800" noProof="0" dirty="0"/>
            </a:br>
            <a:r>
              <a:rPr lang="fr-FR" sz="1800" noProof="0" dirty="0"/>
              <a:t>- Analyse du jeu de données des prix</a:t>
            </a:r>
            <a:br>
              <a:rPr lang="fr-FR" sz="1800" noProof="0" dirty="0"/>
            </a:br>
            <a:br>
              <a:rPr lang="fr-FR" sz="1800" noProof="0" dirty="0"/>
            </a:br>
            <a:r>
              <a:rPr lang="fr-FR" sz="1800" noProof="0" dirty="0"/>
              <a:t>- ‘</a:t>
            </a:r>
            <a:r>
              <a:rPr lang="fr-FR" sz="1800" noProof="0" dirty="0" err="1"/>
              <a:t>Feature</a:t>
            </a:r>
            <a:r>
              <a:rPr lang="fr-FR" sz="1800" noProof="0" dirty="0"/>
              <a:t> engineering’ pour optimisation de l’entraînement du modèle</a:t>
            </a:r>
            <a:br>
              <a:rPr lang="fr-FR" sz="1800" noProof="0" dirty="0"/>
            </a:br>
            <a:br>
              <a:rPr lang="fr-FR" sz="1600" noProof="0" dirty="0"/>
            </a:br>
            <a:br>
              <a:rPr lang="fr-FR" noProof="0" dirty="0"/>
            </a:br>
            <a:br>
              <a:rPr lang="fr-FR" sz="1600" noProof="0" dirty="0"/>
            </a:br>
            <a:br>
              <a:rPr lang="fr-FR" noProof="0" dirty="0"/>
            </a:br>
            <a:endParaRPr lang="fr-FR" sz="1600" noProof="0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76A4405-C6CF-4050-DC1D-091AAC3DC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6416" y="2789581"/>
            <a:ext cx="2671865" cy="177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E0B4B5B-E001-F033-AF89-88AC460DC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573" y="2713115"/>
            <a:ext cx="2222692" cy="192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565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8F6F6F57-6AFE-BFED-9F01-DF1A7885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1556290D-03E2-F98D-D5BD-E242604A9292}"/>
              </a:ext>
            </a:extLst>
          </p:cNvPr>
          <p:cNvSpPr/>
          <p:nvPr/>
        </p:nvSpPr>
        <p:spPr>
          <a:xfrm>
            <a:off x="5499" y="-17775"/>
            <a:ext cx="3520625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E512E535-D198-2F88-2297-6469F6688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808" y="967077"/>
            <a:ext cx="2988031" cy="377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Modèle d’optimisation des tarifs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- entraînement</a:t>
            </a:r>
            <a:br>
              <a:rPr lang="fr-FR" b="1" dirty="0"/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57B5629A-5A22-78B6-E492-80607E03AD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7027E4CB-6B14-257E-99F2-16C5D49C368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526124" y="579249"/>
            <a:ext cx="5315100" cy="342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800" noProof="0" dirty="0"/>
              <a:t>- Entraînement de 4 modèles différents pour optimisation des prix</a:t>
            </a:r>
            <a:br>
              <a:rPr lang="fr-FR" sz="1800" noProof="0" dirty="0"/>
            </a:br>
            <a:br>
              <a:rPr lang="fr-FR" sz="1800" noProof="0" dirty="0"/>
            </a:br>
            <a:r>
              <a:rPr lang="fr-FR" sz="1800" noProof="0" dirty="0"/>
              <a:t>- Sélection du Meilleur modèle en fonction des métriques d’évaluation: The </a:t>
            </a:r>
            <a:r>
              <a:rPr lang="fr-FR" sz="1800" noProof="0" dirty="0" err="1"/>
              <a:t>XGBoost</a:t>
            </a:r>
            <a:r>
              <a:rPr lang="fr-FR" sz="1800" noProof="0" dirty="0"/>
              <a:t> (Optimisé) avec le plus haut score R² : 0.7611</a:t>
            </a:r>
            <a:br>
              <a:rPr lang="fr-FR" noProof="0" dirty="0"/>
            </a:br>
            <a:br>
              <a:rPr lang="fr-FR" sz="1600" noProof="0" dirty="0"/>
            </a:br>
            <a:br>
              <a:rPr lang="fr-FR" noProof="0" dirty="0"/>
            </a:br>
            <a:endParaRPr lang="fr-FR" sz="1600" noProof="0" dirty="0"/>
          </a:p>
        </p:txBody>
      </p:sp>
      <p:pic>
        <p:nvPicPr>
          <p:cNvPr id="5" name="Image 4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7F544956-53CF-A441-2A06-16B419CE1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5409" y="3039265"/>
            <a:ext cx="5184567" cy="193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117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02B21633-A302-B122-070F-EE3BF7579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139D937E-D131-0341-A71C-7F7B2AEBEAF7}"/>
              </a:ext>
            </a:extLst>
          </p:cNvPr>
          <p:cNvSpPr/>
          <p:nvPr/>
        </p:nvSpPr>
        <p:spPr>
          <a:xfrm>
            <a:off x="5499" y="-17775"/>
            <a:ext cx="3520625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4746BB85-C109-9BF1-7903-520960EEB0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8808" y="967077"/>
            <a:ext cx="2988031" cy="377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Modèle d’optimisation des tarifs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- déploiement</a:t>
            </a:r>
            <a:br>
              <a:rPr lang="fr-FR" b="1" dirty="0"/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sz="240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46E5E1CD-1470-25A2-1751-D84460151E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DA6BDDE3-2229-9F18-4C91-5D4059FDA07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588119" y="579249"/>
            <a:ext cx="5315100" cy="342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600" noProof="0" dirty="0"/>
              <a:t>- Création d’une API avec un </a:t>
            </a:r>
            <a:r>
              <a:rPr lang="fr-FR" sz="1600" noProof="0" dirty="0" err="1"/>
              <a:t>endpoint</a:t>
            </a:r>
            <a:r>
              <a:rPr lang="fr-FR" sz="1600" noProof="0" dirty="0"/>
              <a:t> /</a:t>
            </a:r>
            <a:r>
              <a:rPr lang="fr-FR" sz="1600" noProof="0" dirty="0" err="1"/>
              <a:t>predict</a:t>
            </a:r>
            <a:r>
              <a:rPr lang="fr-FR" sz="1600" noProof="0" dirty="0"/>
              <a:t> pour la prédiction des tarifs sur la base du modèle sélectionné (</a:t>
            </a:r>
            <a:r>
              <a:rPr lang="fr-FR" sz="1600" noProof="0" dirty="0" err="1"/>
              <a:t>XGBoost</a:t>
            </a:r>
            <a:r>
              <a:rPr lang="fr-FR" sz="1600" noProof="0" dirty="0"/>
              <a:t> Optimisé)</a:t>
            </a:r>
            <a:br>
              <a:rPr lang="fr-FR" sz="1600" noProof="0" dirty="0"/>
            </a:br>
            <a:br>
              <a:rPr lang="fr-FR" sz="1600" noProof="0" dirty="0"/>
            </a:br>
            <a:r>
              <a:rPr lang="fr-FR" sz="1600" noProof="0" dirty="0"/>
              <a:t>- Préparation de la Documentation de l’API pour assurer des instructions claires d’utilisation sur /docs.</a:t>
            </a:r>
            <a:br>
              <a:rPr lang="fr-FR" sz="1600" noProof="0" dirty="0"/>
            </a:br>
            <a:br>
              <a:rPr lang="fr-FR" sz="1600" noProof="0" dirty="0"/>
            </a:br>
            <a:r>
              <a:rPr lang="fr-FR" sz="1600" noProof="0" dirty="0"/>
              <a:t>- Déploiement: hébergement de l’API sur HF </a:t>
            </a:r>
            <a:r>
              <a:rPr lang="fr-FR" sz="1600" noProof="0" dirty="0" err="1"/>
              <a:t>Spaces</a:t>
            </a:r>
            <a:br>
              <a:rPr lang="fr-FR" noProof="0" dirty="0"/>
            </a:br>
            <a:br>
              <a:rPr lang="fr-FR" sz="1600" noProof="0" dirty="0"/>
            </a:br>
            <a:br>
              <a:rPr lang="fr-FR" noProof="0" dirty="0"/>
            </a:br>
            <a:br>
              <a:rPr lang="fr-FR" sz="1600" noProof="0" dirty="0"/>
            </a:br>
            <a:br>
              <a:rPr lang="fr-FR" noProof="0" dirty="0"/>
            </a:br>
            <a:endParaRPr lang="fr-FR" sz="1600" noProof="0" dirty="0"/>
          </a:p>
        </p:txBody>
      </p:sp>
      <p:pic>
        <p:nvPicPr>
          <p:cNvPr id="3" name="Image 2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C15A5C48-26EF-B139-DF12-EC086F6CF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520" y="2781767"/>
            <a:ext cx="2464010" cy="1447606"/>
          </a:xfrm>
          <a:prstGeom prst="rect">
            <a:avLst/>
          </a:prstGeom>
        </p:spPr>
      </p:pic>
      <p:pic>
        <p:nvPicPr>
          <p:cNvPr id="5" name="Image 4" descr="Une image contenant texte, capture d’écran, logiciel, ordinateur&#10;&#10;Le contenu généré par l’IA peut être incorrect.">
            <a:extLst>
              <a:ext uri="{FF2B5EF4-FFF2-40B4-BE49-F238E27FC236}">
                <a16:creationId xmlns:a16="http://schemas.microsoft.com/office/drawing/2014/main" id="{0461EE62-B02C-C246-AA4C-5C61911DAE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810" y="3354698"/>
            <a:ext cx="2595409" cy="152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71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D9DE7D89-C1F7-A4A3-4CED-1BDCD203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C8806206-5BF8-B5CB-7F02-C901346802F4}"/>
              </a:ext>
            </a:extLst>
          </p:cNvPr>
          <p:cNvSpPr/>
          <p:nvPr/>
        </p:nvSpPr>
        <p:spPr>
          <a:xfrm>
            <a:off x="5499" y="-17775"/>
            <a:ext cx="3520625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A76B9C11-15D3-4C6F-276A-F0FAA446B3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1795" y="1369383"/>
            <a:ext cx="2988031" cy="2210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noProof="0" dirty="0">
                <a:solidFill>
                  <a:schemeClr val="tx1"/>
                </a:solidFill>
              </a:rPr>
              <a:t>Suivi du modèle</a:t>
            </a:r>
            <a:br>
              <a:rPr lang="fr-FR" noProof="0" dirty="0"/>
            </a:br>
            <a:br>
              <a:rPr lang="fr-FR" noProof="0" dirty="0"/>
            </a:br>
            <a:r>
              <a:rPr lang="fr-FR" noProof="0" dirty="0"/>
              <a:t>- Dashboard</a:t>
            </a:r>
            <a:r>
              <a:rPr lang="fr-FR" dirty="0"/>
              <a:t> visuelle</a:t>
            </a:r>
            <a:r>
              <a:rPr lang="fr-FR" noProof="0" dirty="0"/>
              <a:t> </a:t>
            </a:r>
            <a:r>
              <a:rPr lang="fr-FR" noProof="0" dirty="0" err="1"/>
              <a:t>MLFlow</a:t>
            </a:r>
            <a:br>
              <a:rPr lang="fr-FR" b="1" noProof="0" dirty="0"/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-FR" sz="2400" noProof="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sz="2400" noProof="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1672457B-229E-7F7A-C9FF-AD2C3D6ABAA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2BE524D9-0AA5-9467-7381-4ECE57E3DE0D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588119" y="579249"/>
            <a:ext cx="5315100" cy="342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000" b="1" dirty="0"/>
              <a:t>Eléments clés:</a:t>
            </a:r>
            <a:br>
              <a:rPr lang="fr-FR" sz="1800" dirty="0"/>
            </a:br>
            <a:r>
              <a:rPr lang="fr-FR" sz="1800" dirty="0"/>
              <a:t>- Versionnage complet du modèle</a:t>
            </a:r>
            <a:br>
              <a:rPr lang="fr-FR" sz="1800" dirty="0"/>
            </a:br>
            <a:r>
              <a:rPr lang="fr-FR" sz="1800" dirty="0"/>
              <a:t>- Comparaison de la performance du modèle pour les 4 algorithmes</a:t>
            </a:r>
            <a:br>
              <a:rPr lang="fr-FR" sz="1800" dirty="0"/>
            </a:br>
            <a:r>
              <a:rPr lang="fr-FR" sz="1800" dirty="0"/>
              <a:t>- Suivi des hyperparamètres et de l’historique d’optimisation</a:t>
            </a:r>
            <a:br>
              <a:rPr lang="fr-FR" sz="1800" dirty="0"/>
            </a:br>
            <a:r>
              <a:rPr lang="fr-FR" sz="1800" dirty="0"/>
              <a:t>- Flux de développement du modèle</a:t>
            </a:r>
            <a:br>
              <a:rPr lang="fr-FR" sz="1800" dirty="0"/>
            </a:br>
            <a:br>
              <a:rPr lang="fr-FR" dirty="0"/>
            </a:br>
            <a:br>
              <a:rPr lang="en-US" dirty="0"/>
            </a:br>
            <a:br>
              <a:rPr lang="en-US" sz="1600" dirty="0"/>
            </a:br>
            <a:br>
              <a:rPr lang="en-US" dirty="0"/>
            </a:br>
            <a:br>
              <a:rPr lang="fr-FR" sz="1600" dirty="0"/>
            </a:br>
            <a:br>
              <a:rPr lang="fr-FR" dirty="0"/>
            </a:br>
            <a:endParaRPr lang="en-US" sz="1600" dirty="0"/>
          </a:p>
        </p:txBody>
      </p:sp>
      <p:pic>
        <p:nvPicPr>
          <p:cNvPr id="4" name="Image 3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FD996CB8-2263-2C7B-6A15-7DF7171A85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790" y="2814246"/>
            <a:ext cx="3621747" cy="212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15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C32A60FE-CE44-2D5D-F927-68E8F986E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>
            <a:extLst>
              <a:ext uri="{FF2B5EF4-FFF2-40B4-BE49-F238E27FC236}">
                <a16:creationId xmlns:a16="http://schemas.microsoft.com/office/drawing/2014/main" id="{AEB06251-4C00-E127-1784-CB2CFBF0F74A}"/>
              </a:ext>
            </a:extLst>
          </p:cNvPr>
          <p:cNvSpPr/>
          <p:nvPr/>
        </p:nvSpPr>
        <p:spPr>
          <a:xfrm>
            <a:off x="5499" y="-17775"/>
            <a:ext cx="3590107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>
            <a:extLst>
              <a:ext uri="{FF2B5EF4-FFF2-40B4-BE49-F238E27FC236}">
                <a16:creationId xmlns:a16="http://schemas.microsoft.com/office/drawing/2014/main" id="{EDAB21DF-DBB6-1D1D-7F45-E7FB4B302E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6097" y="1030187"/>
            <a:ext cx="2988031" cy="4045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" sz="24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Technologies majeurs utilisées pour les 3 applications </a:t>
            </a:r>
            <a:br>
              <a:rPr lang="fr" sz="24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fr" sz="2400" b="1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déployées</a:t>
            </a: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fr-FR" sz="1200" b="1" dirty="0"/>
            </a:br>
            <a:br>
              <a:rPr lang="fr-FR" sz="1600" dirty="0"/>
            </a:br>
            <a:br>
              <a:rPr lang="fr-FR" dirty="0"/>
            </a:br>
            <a:r>
              <a:rPr lang="fr" sz="2400" dirty="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2400" dirty="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BCD40087-BD10-15D8-807B-1925094AEB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>
            <a:extLst>
              <a:ext uri="{FF2B5EF4-FFF2-40B4-BE49-F238E27FC236}">
                <a16:creationId xmlns:a16="http://schemas.microsoft.com/office/drawing/2014/main" id="{1C97D40E-73C8-AA7E-992B-85A63F27D87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3693986" y="737048"/>
            <a:ext cx="5315100" cy="2712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800" b="1" noProof="0" dirty="0"/>
              <a:t>Développement vs Déploiement</a:t>
            </a:r>
            <a:br>
              <a:rPr lang="fr-FR" sz="1800" b="1" noProof="0" dirty="0"/>
            </a:br>
            <a:br>
              <a:rPr lang="fr-FR" sz="1800" b="1" noProof="0" dirty="0"/>
            </a:br>
            <a:r>
              <a:rPr lang="fr-FR" sz="1800" b="1" noProof="0" dirty="0"/>
              <a:t>- Dépôts séparés: </a:t>
            </a:r>
            <a:r>
              <a:rPr lang="fr-FR" sz="1800" noProof="0" dirty="0"/>
              <a:t>un dépôt de développement d’un modèle d’</a:t>
            </a:r>
            <a:r>
              <a:rPr lang="fr-FR" sz="1800" noProof="0" dirty="0" err="1"/>
              <a:t>appre</a:t>
            </a:r>
            <a:r>
              <a:rPr lang="fr-FR" sz="1800" dirty="0" err="1"/>
              <a:t>ntissage</a:t>
            </a:r>
            <a:r>
              <a:rPr lang="fr-FR" sz="1800" dirty="0"/>
              <a:t> automatique</a:t>
            </a:r>
            <a:r>
              <a:rPr lang="fr-FR" sz="1800" noProof="0" dirty="0"/>
              <a:t> (ML) hébergé sur </a:t>
            </a:r>
            <a:r>
              <a:rPr lang="fr-FR" sz="1800" b="1" noProof="0" dirty="0"/>
              <a:t>GitHub</a:t>
            </a:r>
            <a:br>
              <a:rPr lang="fr-FR" sz="1800" noProof="0" dirty="0"/>
            </a:br>
            <a:br>
              <a:rPr lang="fr-FR" sz="1800" noProof="0" dirty="0"/>
            </a:br>
            <a:r>
              <a:rPr lang="fr-FR" sz="1800" noProof="0" dirty="0"/>
              <a:t>- </a:t>
            </a:r>
            <a:r>
              <a:rPr lang="fr-FR" sz="1800" b="1" noProof="0" dirty="0"/>
              <a:t>HF </a:t>
            </a:r>
            <a:r>
              <a:rPr lang="fr-FR" sz="1800" b="1" noProof="0" dirty="0" err="1"/>
              <a:t>Spaces</a:t>
            </a:r>
            <a:r>
              <a:rPr lang="fr-FR" sz="1800" b="1" noProof="0" dirty="0"/>
              <a:t> </a:t>
            </a:r>
            <a:r>
              <a:rPr lang="fr-FR" sz="1800" noProof="0" dirty="0"/>
              <a:t>utilisé pour le déploiement des applications conteneurisées et de l’API</a:t>
            </a:r>
            <a:br>
              <a:rPr lang="fr-FR" sz="1800" noProof="0" dirty="0"/>
            </a:br>
            <a:br>
              <a:rPr lang="fr-FR" noProof="0" dirty="0"/>
            </a:br>
            <a:br>
              <a:rPr lang="fr-FR" noProof="0" dirty="0"/>
            </a:br>
            <a:br>
              <a:rPr lang="fr-FR" sz="1800" noProof="0" dirty="0"/>
            </a:br>
            <a:br>
              <a:rPr lang="fr-FR" sz="1600" noProof="0" dirty="0"/>
            </a:br>
            <a:br>
              <a:rPr lang="fr-FR" noProof="0" dirty="0"/>
            </a:br>
            <a:endParaRPr lang="fr-FR" sz="1600" noProof="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438449A-3838-CE11-632B-C1D69721E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862" y="4012123"/>
            <a:ext cx="1179469" cy="928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400A4D5-C4B8-30C6-F967-D6098080B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859" y="3783201"/>
            <a:ext cx="1190625" cy="1285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A7E0D28-6A99-9B3E-3F0E-D5FED6B83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356" y="4012123"/>
            <a:ext cx="1309728" cy="87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DDBC7947-D5BC-E785-A901-A0B964F3AE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13" y="3449252"/>
            <a:ext cx="1170222" cy="68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37DE8088-33F7-7F34-57D7-43897555D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9701" y="3271087"/>
            <a:ext cx="1340602" cy="356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1196ECF-9E65-D72A-A267-7642DFD23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365" y="3416085"/>
            <a:ext cx="1092629" cy="109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83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774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ctrTitle" idx="4294967295"/>
          </p:nvPr>
        </p:nvSpPr>
        <p:spPr>
          <a:xfrm>
            <a:off x="1390625" y="1039500"/>
            <a:ext cx="6362700" cy="3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3200" b="0" i="0" u="none" strike="noStrike" cap="none" dirty="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“Aussi bien que je comprenne, ma compréhension ne peut représenter qu’une infime fraction de tout ce que je souhaite comprendre”</a:t>
            </a:r>
            <a:endParaRPr sz="3200" b="0" i="0" u="none" strike="noStrike" cap="none" dirty="0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4" name="Google Shape;104;p18"/>
          <p:cNvSpPr txBox="1">
            <a:spLocks noGrp="1"/>
          </p:cNvSpPr>
          <p:nvPr>
            <p:ph type="ctrTitle" idx="4294967295"/>
          </p:nvPr>
        </p:nvSpPr>
        <p:spPr>
          <a:xfrm>
            <a:off x="463375" y="4530825"/>
            <a:ext cx="8145000" cy="3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10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Ada LOVELACE, mathématicienne et scientifique britannique</a:t>
            </a:r>
            <a:endParaRPr sz="1000" b="0" i="0" u="none" strike="noStrike" cap="none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0"/>
            <a:ext cx="576900" cy="392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Merci! 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>
            <a:spLocks noGrp="1"/>
          </p:cNvSpPr>
          <p:nvPr>
            <p:ph type="ctrTitle" idx="4294967295"/>
          </p:nvPr>
        </p:nvSpPr>
        <p:spPr>
          <a:xfrm>
            <a:off x="1274764" y="2606043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dirty="0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Avez-vous des questions?</a:t>
            </a:r>
            <a:endParaRPr sz="2400" dirty="0">
              <a:solidFill>
                <a:srgbClr val="0E344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17044</TotalTime>
  <Words>676</Words>
  <Application>Microsoft Office PowerPoint</Application>
  <PresentationFormat>Affichage à l'écran (16:9)</PresentationFormat>
  <Paragraphs>30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Inter</vt:lpstr>
      <vt:lpstr>Libre Baskerville</vt:lpstr>
      <vt:lpstr>Inter Medium</vt:lpstr>
      <vt:lpstr>Arial</vt:lpstr>
      <vt:lpstr>Inter SemiBold</vt:lpstr>
      <vt:lpstr>Simple Light</vt:lpstr>
      <vt:lpstr>  Concepteur développeur en science des données  Machine Learning Engineer</vt:lpstr>
      <vt:lpstr>Projet GETAROUND  Industrialisation d'un algorithme d'apprentissage automatique et automatisation des processus de décision  (Déploiement) </vt:lpstr>
      <vt:lpstr>Aperçu du projet</vt:lpstr>
      <vt:lpstr>Analyse des retards en vue d’un outil interactif   </vt:lpstr>
      <vt:lpstr>Optimisation du seuil de décalage:  outil de simulation interactif   </vt:lpstr>
      <vt:lpstr>Optimisation du seuil de décalage -   stratégie commerciale  </vt:lpstr>
      <vt:lpstr>Modèle d’optimisation des tarifs  - entraînement   </vt:lpstr>
      <vt:lpstr>Modèle d’optimisation des tarifs  - entraînement   </vt:lpstr>
      <vt:lpstr>Modèle d’optimisation des tarifs  - déploiement   </vt:lpstr>
      <vt:lpstr>Suivi du modèle  - Dashboard visuelle MLFlow   </vt:lpstr>
      <vt:lpstr>Technologies majeurs utilisées pour les 3 applications  déployées      </vt:lpstr>
      <vt:lpstr>“Aussi bien que je comprenne, ma compréhension ne peut représenter qu’une infime fraction de tout ce que je souhaite comprendre”</vt:lpstr>
      <vt:lpstr>Merci!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Agnieszka Heijligers</dc:creator>
  <cp:lastModifiedBy>Agnieszka Heijligers</cp:lastModifiedBy>
  <cp:revision>26</cp:revision>
  <dcterms:modified xsi:type="dcterms:W3CDTF">2026-01-08T15:16:31Z</dcterms:modified>
</cp:coreProperties>
</file>